
<file path=[Content_Types].xml><?xml version="1.0" encoding="utf-8"?>
<Types xmlns="http://schemas.openxmlformats.org/package/2006/content-types"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_rels/.rels" ContentType="application/vnd.openxmlformats-package.relationship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2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_rels/slideLayout24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slideLayout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s/_rels/slide5.xml.rels" ContentType="application/vnd.openxmlformats-package.relationships+xml"/>
  <Override PartName="/ppt/slides/_rels/slide3.xml.rels" ContentType="application/vnd.openxmlformats-package.relationships+xml"/>
  <Override PartName="/ppt/slides/_rels/slide1.xml.rels" ContentType="application/vnd.openxmlformats-package.relationships+xml"/>
  <Override PartName="/ppt/slides/_rels/slide4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12192000" cy="6858000"/>
  <p:notesSz cx="7772400" cy="100584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5240" cy="614412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4393440" y="182556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7949160" y="182556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838080" y="409824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4393440" y="409824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7949160" y="409824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5240" cy="614412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 type="body"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body"/>
          </p:nvPr>
        </p:nvSpPr>
        <p:spPr>
          <a:xfrm>
            <a:off x="4393440" y="182556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 type="body"/>
          </p:nvPr>
        </p:nvSpPr>
        <p:spPr>
          <a:xfrm>
            <a:off x="7949160" y="182556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 type="body"/>
          </p:nvPr>
        </p:nvSpPr>
        <p:spPr>
          <a:xfrm>
            <a:off x="838080" y="409824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 type="body"/>
          </p:nvPr>
        </p:nvSpPr>
        <p:spPr>
          <a:xfrm>
            <a:off x="4393440" y="409824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 type="body"/>
          </p:nvPr>
        </p:nvSpPr>
        <p:spPr>
          <a:xfrm>
            <a:off x="7949160" y="409824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anchor="b"/>
          <a:p>
            <a:pPr algn="ctr">
              <a:lnSpc>
                <a:spcPct val="90000"/>
              </a:lnSpc>
            </a:pPr>
            <a:r>
              <a:rPr b="0" lang="en-US" sz="6000" spc="-1" strike="noStrike">
                <a:solidFill>
                  <a:srgbClr val="000000"/>
                </a:solidFill>
                <a:latin typeface="Calibri Light"/>
              </a:rPr>
              <a:t>Click to edit Master title style</a:t>
            </a:r>
            <a:endParaRPr b="0" lang="en-US" sz="6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</p:spPr>
        <p:txBody>
          <a:bodyPr anchor="ctr"/>
          <a:p>
            <a:pPr>
              <a:lnSpc>
                <a:spcPct val="100000"/>
              </a:lnSpc>
            </a:pPr>
            <a:fld id="{FD12FAEF-3ECC-4CDF-80E5-C27E073FD6FD}" type="datetime">
              <a:rPr b="0" lang="en-US" sz="1200" spc="-1" strike="noStrike">
                <a:solidFill>
                  <a:srgbClr val="8b8b8b"/>
                </a:solidFill>
                <a:latin typeface="Calibri"/>
              </a:rPr>
              <a:t>1/28/20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</p:spPr>
        <p:txBody>
          <a:bodyPr anchor="ctr"/>
          <a:p>
            <a:endParaRPr b="0" lang="en-US" sz="2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</p:spPr>
        <p:txBody>
          <a:bodyPr anchor="ctr"/>
          <a:p>
            <a:pPr algn="r">
              <a:lnSpc>
                <a:spcPct val="100000"/>
              </a:lnSpc>
            </a:pPr>
            <a:fld id="{2A88E7A0-040B-4FAE-BB27-B5151E85CAFE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anchor="ctr"/>
          <a:p>
            <a:pPr>
              <a:lnSpc>
                <a:spcPct val="9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Click to edit Master title style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/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1" marL="685800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143000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600200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4" marL="2057400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</p:spPr>
        <p:txBody>
          <a:bodyPr anchor="ctr"/>
          <a:p>
            <a:pPr>
              <a:lnSpc>
                <a:spcPct val="100000"/>
              </a:lnSpc>
            </a:pPr>
            <a:fld id="{EF6CFEDE-9367-42C4-8FAC-9DA1C5E69DF5}" type="datetime">
              <a:rPr b="0" lang="en-US" sz="1200" spc="-1" strike="noStrike">
                <a:solidFill>
                  <a:srgbClr val="8b8b8b"/>
                </a:solidFill>
                <a:latin typeface="Calibri"/>
              </a:rPr>
              <a:t>1/28/20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</p:spPr>
        <p:txBody>
          <a:bodyPr anchor="ctr"/>
          <a:p>
            <a:endParaRPr b="0" lang="en-US" sz="2400" spc="-1" strike="noStrike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</p:spPr>
        <p:txBody>
          <a:bodyPr anchor="ctr"/>
          <a:p>
            <a:pPr algn="r">
              <a:lnSpc>
                <a:spcPct val="100000"/>
              </a:lnSpc>
            </a:pPr>
            <a:fld id="{5244FDE0-1135-46BA-B2A3-4C82285E681B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1</a:t>
            </a:fld>
            <a:endParaRPr b="0" lang="en-US" sz="12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hyperlink" Target="mailto:dimitri@berkeley.edu" TargetMode="External"/><Relationship Id="rId2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Shape 1"/>
          <p:cNvSpPr txBox="1"/>
          <p:nvPr/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>
            <a:noFill/>
          </a:ln>
        </p:spPr>
        <p:txBody>
          <a:bodyPr anchor="b">
            <a:normAutofit/>
          </a:bodyPr>
          <a:p>
            <a:pPr algn="ctr">
              <a:lnSpc>
                <a:spcPct val="9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INFO 251: Applied Machine Learning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3" name="TextShape 2"/>
          <p:cNvSpPr txBox="1"/>
          <p:nvPr/>
        </p:nvSpPr>
        <p:spPr>
          <a:xfrm>
            <a:off x="1523880" y="3602160"/>
            <a:ext cx="9143640" cy="165528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 algn="ctr">
              <a:lnSpc>
                <a:spcPct val="90000"/>
              </a:lnSpc>
              <a:spcBef>
                <a:spcPts val="1001"/>
              </a:spcBef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Lab 1 </a:t>
            </a:r>
            <a:endParaRPr b="0" lang="en-US" sz="2400" spc="-1" strike="noStrike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1001"/>
              </a:spcBef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Dimitris Papadimitriou</a:t>
            </a:r>
            <a:endParaRPr b="0" lang="en-US" sz="2400" spc="-1" strike="noStrike">
              <a:latin typeface="Arial"/>
            </a:endParaRPr>
          </a:p>
        </p:txBody>
      </p:sp>
    </p:spTree>
  </p:cSld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/>
          <a:p>
            <a:pPr>
              <a:lnSpc>
                <a:spcPct val="9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About me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5" name="TextShape 2"/>
          <p:cNvSpPr txBox="1"/>
          <p:nvPr/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Dimitris Papadimitriou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Research area: Control Theory and Machine Learning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Email: </a:t>
            </a:r>
            <a:r>
              <a:rPr b="0" lang="en-US" sz="2800" spc="-1" strike="noStrike" u="sng">
                <a:solidFill>
                  <a:srgbClr val="0563c1"/>
                </a:solidFill>
                <a:uFillTx/>
                <a:latin typeface="Calibri"/>
                <a:hlinkClick r:id="rId1"/>
              </a:rPr>
              <a:t>dimitri@berkeley.edu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Please use Piazza for hw/lab/lecture content questions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Office hours: Fridays, 4-5m, South Hall 202</a:t>
            </a:r>
            <a:r>
              <a:rPr b="1" lang="en-US" sz="2800" spc="-1" strike="noStrike">
                <a:solidFill>
                  <a:srgbClr val="000000"/>
                </a:solidFill>
                <a:latin typeface="Calibri"/>
              </a:rPr>
              <a:t> </a:t>
            </a:r>
            <a:br/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(except for March 13th and April 17th, which will be held in </a:t>
            </a:r>
            <a:r>
              <a:rPr b="0" lang="en-US" sz="2800" spc="-1" strike="noStrike">
                <a:solidFill>
                  <a:srgbClr val="ce181e"/>
                </a:solidFill>
                <a:latin typeface="Calibri"/>
              </a:rPr>
              <a:t>South Hall 210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 5-6pm)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1" marL="685800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timing>
    <p:tnLst>
      <p:par>
        <p:cTn id="3" dur="indefinite" restart="never" nodeType="tmRoot">
          <p:childTnLst>
            <p:seq>
              <p:cTn id="4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/>
          <a:p>
            <a:pPr>
              <a:lnSpc>
                <a:spcPct val="9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Goals of the lab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7" name="TextShape 2"/>
          <p:cNvSpPr txBox="1"/>
          <p:nvPr/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To give you practical, hands-on experience implementing the concepts discussed in class and in the readings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To provide a team learning environment to help you master Python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To answer practical questions about applied machine learning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To help you meet other students in the class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timing>
    <p:tnLst>
      <p:par>
        <p:cTn id="5" dur="indefinite" restart="never" nodeType="tmRoot">
          <p:childTnLst>
            <p:seq>
              <p:cTn id="6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/>
          <a:p>
            <a:pPr>
              <a:lnSpc>
                <a:spcPct val="9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A typical lab session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9" name="TextShape 2"/>
          <p:cNvSpPr txBox="1"/>
          <p:nvPr/>
        </p:nvSpPr>
        <p:spPr>
          <a:xfrm>
            <a:off x="838080" y="1825560"/>
            <a:ext cx="10515240" cy="445392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First 5 minutes: I will introduce key themes and concepts of the lab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Next 30 minutes: Structured lab exercise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1" marL="685800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I will distribute a Jupyter notebook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1" marL="685800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You will work in small groups on the notebook. Try </a:t>
            </a:r>
            <a:r>
              <a:rPr b="1" i="1" lang="en-US" sz="2400" spc="-1" strike="noStrike">
                <a:solidFill>
                  <a:srgbClr val="000000"/>
                </a:solidFill>
                <a:latin typeface="Calibri"/>
              </a:rPr>
              <a:t>not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to work with the same people every time. I will occasionally ask you to shuffle your groups.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1" marL="685800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From time to time I will walk you through specific questions and solutions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Next 15 minutes: Open Q&amp;A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1" marL="685800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You ask questions, we all try to provide answers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1" marL="685800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timing>
    <p:tnLst>
      <p:par>
        <p:cTn id="7" dur="indefinite" restart="never" nodeType="tmRoot">
          <p:childTnLst>
            <p:seq>
              <p:cTn id="8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/>
          <a:p>
            <a:pPr>
              <a:lnSpc>
                <a:spcPct val="9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Other notes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1" name="TextShape 2"/>
          <p:cNvSpPr txBox="1"/>
          <p:nvPr/>
        </p:nvSpPr>
        <p:spPr>
          <a:xfrm>
            <a:off x="731520" y="1828800"/>
            <a:ext cx="10515240" cy="435096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Attendance is not mandatory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I will be uploading the lab material on bcourses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Feel free to bring lunch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timing>
    <p:tnLst>
      <p:par>
        <p:cTn id="9" dur="indefinite" restart="never" nodeType="tmRoot">
          <p:childTnLst>
            <p:seq>
              <p:cTn id="10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2741</TotalTime>
  <Application>LibreOffice/6.0.7.3$Linux_X86_64 LibreOffice_project/00m0$Build-3</Application>
  <Words>214</Words>
  <Paragraphs>28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2017-08-28T23:49:33Z</dcterms:created>
  <dc:creator>Guanghua Chi</dc:creator>
  <dc:description/>
  <dc:language>en-US</dc:language>
  <cp:lastModifiedBy/>
  <dcterms:modified xsi:type="dcterms:W3CDTF">2020-01-28T17:03:16Z</dcterms:modified>
  <cp:revision>16</cp:revision>
  <dc:subject/>
  <dc:title>INFO 251: Applied Machine Learning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15.0032</vt:lpwstr>
  </property>
  <property fmtid="{D5CDD505-2E9C-101B-9397-08002B2CF9AE}" pid="3" name="HiddenSlides">
    <vt:i4>0</vt:i4>
  </property>
  <property fmtid="{D5CDD505-2E9C-101B-9397-08002B2CF9AE}" pid="4" name="HyperlinksChanged">
    <vt:bool>0</vt:bool>
  </property>
  <property fmtid="{D5CDD505-2E9C-101B-9397-08002B2CF9AE}" pid="5" name="LinksUpToDate">
    <vt:bool>0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Widescreen</vt:lpwstr>
  </property>
  <property fmtid="{D5CDD505-2E9C-101B-9397-08002B2CF9AE}" pid="9" name="ScaleCrop">
    <vt:bool>0</vt:bool>
  </property>
  <property fmtid="{D5CDD505-2E9C-101B-9397-08002B2CF9AE}" pid="10" name="ShareDoc">
    <vt:bool>0</vt:bool>
  </property>
  <property fmtid="{D5CDD505-2E9C-101B-9397-08002B2CF9AE}" pid="11" name="Slides">
    <vt:i4>5</vt:i4>
  </property>
</Properties>
</file>